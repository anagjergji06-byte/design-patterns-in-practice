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JetBrains Mono" panose="020B0604020202020204" charset="0"/>
      <p:regular r:id="rId17"/>
      <p:bold r:id="rId18"/>
      <p:italic r:id="rId19"/>
      <p:boldItalic r:id="rId20"/>
    </p:embeddedFont>
    <p:embeddedFont>
      <p:font typeface="Space Grotesk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DFF74B-3B35-4855-8E6C-F7E46521842B}">
  <a:tblStyle styleId="{EEDFF74B-3B35-4855-8E6C-F7E4652184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2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5829300"/>
            <a:ext cx="104584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66775" y="1340346"/>
            <a:ext cx="10981372" cy="2234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Design Patterns in Practice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1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A Cross-Language Paradigm Study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66775" y="3765053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Implementing the Factory, Strategy, and Observer Patterns uniformly across Java, Kotlin, and Python ecosystems.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66775" y="4784228"/>
            <a:ext cx="10458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F2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AUTHORS: ALBA GJERGJI, ANA GJERGJI, DION HASANBASHAJ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66775" y="6029325"/>
            <a:ext cx="17335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SYS.INIT // CORE_PARADIGMS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858500" y="6029325"/>
            <a:ext cx="466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PAGE_01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4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5829300"/>
            <a:ext cx="104584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70415" y="2411610"/>
            <a:ext cx="3954809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66775" y="676275"/>
            <a:ext cx="5160645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Architecture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1337220"/>
            <a:ext cx="4914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2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TRAVEL AGENCY SIMULATOR BLUEPRINT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6029325"/>
            <a:ext cx="17335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SYS.LOG // DOMAIN_OVERVIEW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858500" y="6029325"/>
            <a:ext cx="466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PAGE_02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66775" y="2621160"/>
            <a:ext cx="593214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 highly focused environment built to isolate architectural layout mechanics from production ecosystem noise.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3421260"/>
            <a:ext cx="59321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system models the exact execution block where a transient price quotation shifts directly into a validated, structurally sound, confirmed booking.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66775" y="4364235"/>
            <a:ext cx="59321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To secure strict evaluation metrics, the architecture explicitly omits database engines, graphical user interfaces, and network drivers—routing every pattern transaction exclusively via console metrics.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18065" y="2697360"/>
            <a:ext cx="11334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F2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[DOMAIN_ENTITIES]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18065" y="2973585"/>
            <a:ext cx="345950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Customer</a:t>
            </a:r>
            <a:r>
              <a:rPr lang="en-US" sz="1200" b="0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 Plain Data Holder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18065" y="3259335"/>
            <a:ext cx="345950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Quotation</a:t>
            </a:r>
            <a:r>
              <a:rPr lang="en-US" sz="1200" b="0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 Creation Engine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18065" y="3545085"/>
            <a:ext cx="345950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Booking</a:t>
            </a:r>
            <a:r>
              <a:rPr lang="en-US" sz="1200" b="0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 Architecture Hub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4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5829300"/>
            <a:ext cx="104584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3225998"/>
            <a:ext cx="33337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29125" y="3225998"/>
            <a:ext cx="33337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91475" y="3225998"/>
            <a:ext cx="33337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14425" y="3483173"/>
            <a:ext cx="17907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76775" y="3483173"/>
            <a:ext cx="1724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39125" y="3483173"/>
            <a:ext cx="19240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66775" y="676275"/>
            <a:ext cx="5480685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Convergence Hub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1337220"/>
            <a:ext cx="5219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2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HOW THREE PATTERNS COOPERATE IN A SINGLE TARGET ENTITY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66775" y="2359223"/>
            <a:ext cx="10458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Rather than treating software design constructs as isolated concepts, the system unites all three patterns directly within the Booking class.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66775" y="6029325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SYS.LOG // INTERSECTION_ANALYSIS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858500" y="6029325"/>
            <a:ext cx="466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PAGE_03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114425" y="3854648"/>
            <a:ext cx="298037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Factory Target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114425" y="4254698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Booking objects are strictly produced via factory logic, safeguarding lifecycle parameters from loose direct creation instantiation.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676775" y="3854648"/>
            <a:ext cx="298037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Strategy Context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676775" y="4254698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Acts as the formal context block containing and running interchange evaluation rules without explicit class coupling.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239125" y="3854648"/>
            <a:ext cx="298037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Event Subject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239125" y="4254698"/>
            <a:ext cx="2838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Maintains abstract consumer logs, serving as the subject hub triggering decoupled system callbacks.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4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5829300"/>
            <a:ext cx="104584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70415" y="2535435"/>
            <a:ext cx="3954809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866775" y="676275"/>
            <a:ext cx="5410676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The Factory Pattern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66775" y="133722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2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CENTRALIZING OBJECT INSTANTIATION MECHANICS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66775" y="6029325"/>
            <a:ext cx="17335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SYS.LOG // PATTERN_FACTORY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0858500" y="6029325"/>
            <a:ext cx="466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PAGE_04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66775" y="2725935"/>
            <a:ext cx="593214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architecture delegates dedicated allocation responsibilities away from client actors, ensuring that object consumers never invoke structural constructors directly.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570440" y="2735460"/>
            <a:ext cx="2743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Reference Java Implementation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570440" y="2935485"/>
            <a:ext cx="514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170515" y="2935485"/>
            <a:ext cx="6000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Booking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856315" y="2935485"/>
            <a:ext cx="514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accept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913340" y="3135510"/>
            <a:ext cx="6000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Booking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713565" y="3135510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7570440" y="3335535"/>
            <a:ext cx="6000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Booking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256240" y="3335535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913340" y="3535560"/>
            <a:ext cx="514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570440" y="3535560"/>
            <a:ext cx="300037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"[QUOTATION] Accepted..."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913340" y="3935610"/>
            <a:ext cx="514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190625" y="3726060"/>
            <a:ext cx="588870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Quotation as the Creator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190625" y="4221360"/>
            <a:ext cx="560829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Quotation entity operates as the creational generator, utilizing its accept() routine to return configured, validated Booking contexts with a guaranteed baseline state.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4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5829300"/>
            <a:ext cx="104584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70415" y="2406848"/>
            <a:ext cx="3954809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866775" y="676275"/>
            <a:ext cx="576072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The Strategy Pattern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66775" y="1337220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2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RUNTIME BEHAVIORAL INTERCHANGING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66775" y="6029325"/>
            <a:ext cx="18002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SYS.LOG // PATTERN_STRATEGY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0858500" y="6029325"/>
            <a:ext cx="466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PAGE_05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66775" y="2597348"/>
            <a:ext cx="593214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Enables alternative algorithm layers to swap at runtime by encapsulating verification variant processing engines behind an immutable abstract layer.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570440" y="2606873"/>
            <a:ext cx="26574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Polymorphic Evaluation Logic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570440" y="2806898"/>
            <a:ext cx="514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170515" y="2806898"/>
            <a:ext cx="6000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boolean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856315" y="2806898"/>
            <a:ext cx="14573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verifyEligibility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0399365" y="2806898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Customer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913340" y="3206948"/>
            <a:ext cx="3000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Single interface execution trace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7913340" y="3406973"/>
            <a:ext cx="514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513415" y="3406973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190625" y="3597473"/>
            <a:ext cx="588870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Decoupled Eligibility Contracts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190625" y="4092773"/>
            <a:ext cx="560829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EligibilityStrategy targets a standalone validation check interface. This allows concrete logic loops (AgeStrategy and PassportStrategy) to swap inside the booking pipeline without structural class rework.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4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5829300"/>
            <a:ext cx="104584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70415" y="2406848"/>
            <a:ext cx="3954809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866775" y="676275"/>
            <a:ext cx="5800725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The Observer Pattern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66775" y="133722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2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DECOUPLED EVENT BROADCASTING MECHANICS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66775" y="6029325"/>
            <a:ext cx="18002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SYS.LOG // PATTERN_OBSERVER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0858500" y="6029325"/>
            <a:ext cx="466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PAGE_06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66775" y="2597348"/>
            <a:ext cx="593214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Establishes an asynchronous one-to-many event pipeline layout designed to broadcast state updates across detached handlers automatically.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570440" y="2606873"/>
            <a:ext cx="26574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State Change Broadcast Block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7570440" y="2806898"/>
            <a:ext cx="514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170515" y="2806898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599140" y="2806898"/>
            <a:ext cx="6000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confirm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7913340" y="3006923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9113490" y="3006923"/>
            <a:ext cx="942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"Confirmed"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7913340" y="3206948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8341965" y="3206948"/>
            <a:ext cx="1285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BookingObserver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1190625" y="3597473"/>
            <a:ext cx="588870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Pipeline Execution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1190625" y="4092773"/>
            <a:ext cx="560829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Once a booking shifts status codes to verified confirmation targets, it loops its inner registration stack, triggering update metrics across standalone handlers (LogObserver, EmailObserver).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4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6042570"/>
            <a:ext cx="104584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866775" y="676275"/>
            <a:ext cx="704088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Cross-Paradigm Engineering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866775" y="1337220"/>
            <a:ext cx="67056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2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IDENTICAL ARCHITECTURE ACROSS DISTINCT RUNTIMES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866775" y="2080170"/>
            <a:ext cx="10458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While Java serves as the foundational reference syntax, the code logic maps line-for-line into Kotlin and Python platforms. This guarantees identical operational layout results while utilizing distinct underlying compiler mechanics.</a:t>
            </a:r>
            <a:endParaRPr/>
          </a:p>
        </p:txBody>
      </p:sp>
      <p:graphicFrame>
        <p:nvGraphicFramePr>
          <p:cNvPr id="210" name="Google Shape;210;p19"/>
          <p:cNvGraphicFramePr/>
          <p:nvPr/>
        </p:nvGraphicFramePr>
        <p:xfrm>
          <a:off x="866775" y="312792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{EEDFF74B-3B35-4855-8E6C-F7E46521842B}</a:tableStyleId>
              </a:tblPr>
              <a:tblGrid>
                <a:gridCol w="229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F2F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Structural Blueprint Element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F2F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Java Reference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F2F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Kotlin Hybrid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F2F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Python Dynamic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A0AEC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Role Abstraction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A0AEC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interface contract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A0AEC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Strict modern interface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A0AEC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Base Class with pass structures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A0AEC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Observer List Instantiation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A0AEC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ArrayList&lt;&gt; type allocation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A0AEC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Modern mutableListOf() hook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A0AEC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Built-in native array list handles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A0AEC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Strategy Method Processing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A0AEC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Direct pointer invocation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A0AEC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Null-Safe execution (?. check)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A0AEC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Guarded runtime conditional checks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1" name="Google Shape;211;p19"/>
          <p:cNvSpPr txBox="1"/>
          <p:nvPr/>
        </p:nvSpPr>
        <p:spPr>
          <a:xfrm>
            <a:off x="866775" y="6242595"/>
            <a:ext cx="1866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SYS.LOG // STRUCTURAL_MATRIX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10858500" y="6242595"/>
            <a:ext cx="466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PAGE_07</a:t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866775" y="3689895"/>
            <a:ext cx="2295078" cy="1905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3161853" y="3689895"/>
            <a:ext cx="2575173" cy="1905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5737026" y="3689895"/>
            <a:ext cx="2873573" cy="1905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8610600" y="3689895"/>
            <a:ext cx="2714625" cy="1905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866775" y="4485233"/>
            <a:ext cx="22950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3161853" y="4485233"/>
            <a:ext cx="25751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5737026" y="4485233"/>
            <a:ext cx="28735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8610600" y="4485233"/>
            <a:ext cx="27146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866775" y="5266283"/>
            <a:ext cx="22950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3161853" y="5266283"/>
            <a:ext cx="25751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5737026" y="5266283"/>
            <a:ext cx="28735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8610600" y="5266283"/>
            <a:ext cx="27146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866775" y="6028283"/>
            <a:ext cx="22950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3161853" y="6028283"/>
            <a:ext cx="25751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5737026" y="6028283"/>
            <a:ext cx="28735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8610600" y="6028283"/>
            <a:ext cx="27146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4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5829300"/>
            <a:ext cx="104584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3226296"/>
            <a:ext cx="10458450" cy="146640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866775" y="676275"/>
            <a:ext cx="664083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Ecosystem Output Tracing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866775" y="1337220"/>
            <a:ext cx="63246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2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VALIDATING BYTE-FOR-BYTE COMPONENT CONSISTENCY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866775" y="2464296"/>
            <a:ext cx="10458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Testing confirms that all three translations process pipeline requests identically. The sample console trace documents each design pattern executing sequentially: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66775" y="4835574"/>
            <a:ext cx="10458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* System verification check: If an eligibility constraint processing trace fails, status assignment stays blocked and downstream notifications are automatically suppressed.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866775" y="6029325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SYS.LOG // RUNTIME_TRACE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10858500" y="6029325"/>
            <a:ext cx="466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PAGE_08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1066800" y="3426321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F2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[QUOTATION]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8458200" y="3426321"/>
            <a:ext cx="2667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&lt;-- Factory Method Execution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1066800" y="3639591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[AGE CHECK]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7410450" y="3639591"/>
            <a:ext cx="3714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&lt;-- Interchangeable Strategy Validation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1066800" y="3852862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B86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[BOOKING]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1066800" y="4066133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BE9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[LOG]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7791450" y="4066133"/>
            <a:ext cx="3333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&lt;-- Observer Notification Channel A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1066800" y="4279403"/>
            <a:ext cx="666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79C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[EMAIL]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7791450" y="4279403"/>
            <a:ext cx="3333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272A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&lt;-- Observer Notification Channel B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4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5829300"/>
            <a:ext cx="104584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70415" y="2794992"/>
            <a:ext cx="3954809" cy="2128837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866775" y="676275"/>
            <a:ext cx="5550693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Extension Capabilities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866775" y="1337220"/>
            <a:ext cx="52863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2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DEMONSTRATING TRUE ARCHITECTURAL FLEXIBILITY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866775" y="6029325"/>
            <a:ext cx="1866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SYS.LOG // EXTENSION_METRICS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10858500" y="6029325"/>
            <a:ext cx="466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PAGE_09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866775" y="3004542"/>
            <a:ext cx="593214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central value of this structural footprint lies in total conformance with the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Open-Closed Principle (OCP)</a:t>
            </a:r>
            <a:r>
              <a:rPr lang="en-US" sz="1650" b="0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866775" y="3823692"/>
            <a:ext cx="593214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core codebase remains completely locked down against intrusive runtime code changes, yet it remains infinitely open to system functionality expansions.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7618065" y="3042642"/>
            <a:ext cx="363248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F2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[SCALING_MECHANISMS]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7618065" y="3385542"/>
            <a:ext cx="345950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 New Booking Subtypes via Factory Seams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7618065" y="3957042"/>
            <a:ext cx="3459509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Inject Custom Rules via New Strategy Classes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7618065" y="4247554"/>
            <a:ext cx="345950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Spin Up Text/Loyalty Alerts via New Observers</a:t>
            </a:r>
            <a:endParaRPr/>
          </a:p>
        </p:txBody>
      </p:sp>
      <p:pic>
        <p:nvPicPr>
          <p:cNvPr id="268" name="Google Shape;26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18065" y="3414117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18065" y="3985617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18065" y="4276129"/>
            <a:ext cx="13335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4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5829300"/>
            <a:ext cx="104584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2846189"/>
            <a:ext cx="10458450" cy="202644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866775" y="676275"/>
            <a:ext cx="5690711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Analytical Conclusions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866775" y="1337220"/>
            <a:ext cx="54197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2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 RESEARCH TAKEAWAYS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866775" y="6029325"/>
            <a:ext cx="15335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SYS.LOG // EVAL_SUMMARY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10858500" y="6029325"/>
            <a:ext cx="466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PAGE_10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1209675" y="3189089"/>
            <a:ext cx="97726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"The structural integrity of classic object-oriented patterns carries flawlessly across varying type runtimes. While modern elements like Kotlin lambdas or Python dynamic duck-typing drastically minimize the physical boilerplate footprint, the core decoupling intent, component relationships, and class distributions remain structurally unchanged."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861</Words>
  <Application>Microsoft Office PowerPoint</Application>
  <PresentationFormat>Widescreen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Space Grotesk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Dion Hasanbashaj</cp:lastModifiedBy>
  <cp:revision>1</cp:revision>
  <dcterms:modified xsi:type="dcterms:W3CDTF">2026-05-28T17:11:29Z</dcterms:modified>
</cp:coreProperties>
</file>